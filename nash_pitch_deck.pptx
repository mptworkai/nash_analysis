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Every show.
Every dollar.
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D87A"/>
                </a:solidFill>
              </a:rPr>
              <a:t>Introducing Nash Analysis —
a purpose-built finance tracker for Nash Jazz Club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Gross margin  ·  Artist costs  ·  Revenue trends  ·  Instant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822960"/>
            <a:ext cx="2834640" cy="16459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89611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9B2E"/>
                </a:solidFill>
              </a:rPr>
              <a:t>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508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events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743200"/>
            <a:ext cx="2834640" cy="16459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81635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9B2E"/>
                </a:solidFill>
              </a:rPr>
              <a:t>FY22–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4290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through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4663440"/>
            <a:ext cx="2834640" cy="16459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473659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9B2E"/>
                </a:solidFill>
              </a:rP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3492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financial fields
per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Nash Jazz Club  ·  Finance &amp;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D87A"/>
                </a:solidFill>
              </a:rPr>
              <a:t>Managing event finances across dozens of Excel files is slow, fragile, and error-prone.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32461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566160" cy="54864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F1D1D"/>
                </a:solidFill>
              </a:rPr>
              <a:t>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1D1D"/>
                </a:solidFill>
              </a:rPr>
              <a:t>Scattered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2400E"/>
                </a:solidFill>
              </a:rPr>
              <a:t>One workbook per fiscal year and series.
Each workbook has one tab per month.
Finding a single show means opening
the right file, the right tab.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32461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813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F1D1D"/>
                </a:solidFill>
              </a:rPr>
              <a:t>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65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1D1D"/>
                </a:solidFill>
              </a:rPr>
              <a:t>No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231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2400E"/>
                </a:solidFill>
              </a:rPr>
              <a:t>Column layouts shift between years.
Metric names vary ("Performers Fee"
vs. "Performance Fee"). Formulas
drift from file to file.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32461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566160" cy="54864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813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F1D1D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1D1D"/>
                </a:solidFill>
              </a:rPr>
              <a:t>Zero Cross-File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42316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2400E"/>
                </a:solidFill>
              </a:rPr>
              <a:t>Can't answer "What did we pay this
artist across all years?" without
opening every file manually
and summing by hand.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3566160" cy="32461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3566160" cy="54864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301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F1D1D"/>
                </a:solidFill>
              </a:rPr>
              <a:t>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14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1D1D"/>
                </a:solidFill>
              </a:rPr>
              <a:t>Version Chaos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2400E"/>
                </a:solidFill>
              </a:rPr>
              <a:t>Sharing means emailing attachments.
Which version is current? Who changed
row 14? There's no way to know
without asking.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520440"/>
            <a:ext cx="3566160" cy="32461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520440"/>
            <a:ext cx="3566160" cy="54864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6301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F1D1D"/>
                </a:solidFill>
              </a:rPr>
              <a:t>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114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1D1D"/>
                </a:solidFill>
              </a:rPr>
              <a:t>Manual Totals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5720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2400E"/>
                </a:solidFill>
              </a:rPr>
              <a:t>Annual and multi-series summaries
require copying numbers between files.
One wrong cell and the margin
numbers are wrong all year.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520440"/>
            <a:ext cx="3566160" cy="32461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520440"/>
            <a:ext cx="3566160" cy="54864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6301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F1D1D"/>
                </a:solidFill>
              </a:rPr>
              <a:t>⏱️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114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1D1D"/>
                </a:solidFill>
              </a:rPr>
              <a:t>Slow to Answer Questions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20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2400E"/>
                </a:solidFill>
              </a:rPr>
              <a:t>"How was First Friday vs. Special
Events this year?" takes 20 minutes
of file-hopping instead of a
single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It's Costing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D87A"/>
                </a:solidFill>
              </a:rPr>
              <a:t>Invisible overhead that compounds every month.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11704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73152" cy="117043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1D1D"/>
                </a:solidFill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2400E"/>
                </a:solidFill>
              </a:rPr>
              <a:t>30–60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81912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400E"/>
                </a:solidFill>
              </a:rPr>
              <a:t>to answer a question that should take 30 seconds —
"What did we gross on jazz performances in FY2025?"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15768"/>
            <a:ext cx="11430000" cy="11704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715768"/>
            <a:ext cx="73152" cy="117043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254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1D1D"/>
                </a:solidFill>
              </a:rPr>
              <a:t>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072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2400E"/>
                </a:solidFill>
              </a:rPr>
              <a:t>Silent mistakes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80360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400E"/>
                </a:solidFill>
              </a:rPr>
              <a:t>copy-paste errors and broken formulas that go
undetected until the annual review — or longer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14215"/>
            <a:ext cx="11430000" cy="11704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014215"/>
            <a:ext cx="73152" cy="117043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2394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1D1D"/>
                </a:solidFill>
              </a:rPr>
              <a:t>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105655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2400E"/>
                </a:solidFill>
              </a:rPr>
              <a:t>Delayed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178807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400E"/>
                </a:solidFill>
              </a:rPr>
              <a:t>pricing, booking, and program decisions made
without timely margin data because pulling it
takes too long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12664"/>
            <a:ext cx="11430000" cy="11704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312664"/>
            <a:ext cx="73152" cy="117043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4223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1D1D"/>
                </a:solidFill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4041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2400E"/>
                </a:solidFill>
              </a:rPr>
              <a:t>People-dependent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77256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2400E"/>
                </a:solidFill>
              </a:rPr>
              <a:t>only the person who built the spreadsheets knows
where everything lives — that's a single point of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</a:rPr>
              <a:t>None of this is acceptable when the data already exists — it just isn't organized.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Introducing Nash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D87A"/>
                </a:solidFill>
              </a:rPr>
              <a:t>A secure, browser-based finance tracker purpose-built for Nash events.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91440" cy="150876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All your data, one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Every show from FY2022 through today loaded and searchable in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57784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91440" cy="150876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54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Built around how you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47672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Same financial categories as your existing Excel files — no relearning.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557784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91440" cy="150876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Answers questions instantly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93592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Filter by year, series, or program. Sort by margin, revenue, or tickets. Done.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063240"/>
            <a:ext cx="557784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063240"/>
            <a:ext cx="91440" cy="150876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2004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Nothing to 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593592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Opens in any browser. Works on a laptop at the office or a phone backstage.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557784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91440" cy="150876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46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Your data stays yours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39512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Runs on Nash's own server. Password-protected. No third-party cloud required.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709160"/>
            <a:ext cx="557784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709160"/>
            <a:ext cx="91440" cy="150876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846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Excel is still there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239512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Export the full database back to a formatted .xlsx file any time — one command.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B2E"/>
                </a:solidFill>
              </a:rPr>
              <a:t>Feature 1 of 4  —  Event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Find any show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046720" cy="5349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863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Search events…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Series 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63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Program 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FY 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+ New Event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47672"/>
            <a:ext cx="7863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8424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984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Event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9842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84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984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1984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84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Tickets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40864"/>
            <a:ext cx="7863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2316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Apr 26 '26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 Trio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423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423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$7,820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423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$2,340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9" y="2423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+$5,480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4231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148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43200"/>
            <a:ext cx="78638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82549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Apr 10 '26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2825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Endea Owens (Early)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8254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8254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$5,120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28254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$3,800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199" y="28254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+$1,320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8254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96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145536"/>
            <a:ext cx="7863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Apr 10 '26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227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Endea Owens (Late)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227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2278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$4,990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32278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$3,800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199" y="32278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+$1,190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2278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91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547872"/>
            <a:ext cx="78638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63016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Mar 28 '26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630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First Friday March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36301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First Friday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36301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$3,240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36301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$1,100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199" y="36301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+$2,140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6301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112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950208"/>
            <a:ext cx="7863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03250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Mar 14 '26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1600" y="4032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Education Matinee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0325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Education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40325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59" y="40325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$950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199" y="40325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F1D1D"/>
                </a:solidFill>
              </a:rPr>
              <a:t>($950)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40325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352544"/>
            <a:ext cx="78638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44348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Feb 21 '26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Moe Flavour Quartet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434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4434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$6,110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359" y="4434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$2,800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199" y="4434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+$3,310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44348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134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4754880"/>
            <a:ext cx="7863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483717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Jan 18 '26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1600" y="48371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First Friday January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48371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First Friday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0" y="4837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$2,980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59" y="4837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$900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199" y="4837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+$2,080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21040" y="483717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108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157216"/>
            <a:ext cx="78638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523951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Jan  4 '26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5239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New Year Kickoff Special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0" y="5239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Special Event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0" y="52395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$9,400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59" y="52395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$4,200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199" y="52395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F46"/>
                </a:solidFill>
              </a:rPr>
              <a:t>+$5,200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523951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210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6446520"/>
            <a:ext cx="7863840" cy="34747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— 579 events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49039" y="64739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87A"/>
                </a:solidFill>
              </a:rPr>
              <a:t>$4,128,440   $2,943,210   +$1,185,230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32520" y="1280160"/>
            <a:ext cx="3154680" cy="12618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732520" y="1280160"/>
            <a:ext cx="91440" cy="12618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15400" y="137160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Filter simultaneously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15400" y="1719072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Search by keyword AND series AND
program AND fiscal year at once.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32520" y="2670048"/>
            <a:ext cx="3154680" cy="12618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732520" y="2670048"/>
            <a:ext cx="91440" cy="12618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15400" y="27614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Sort any column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15400" y="310896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Click a header — sort by margin,
revenue, tickets, or date.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732520" y="4059935"/>
            <a:ext cx="3154680" cy="12618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732520" y="4059935"/>
            <a:ext cx="91440" cy="12618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15400" y="4151375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Totals always match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15400" y="4498847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The summary row at the bottom
reflects exactly the current filter.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32520" y="5449824"/>
            <a:ext cx="3154680" cy="12618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32520" y="5449824"/>
            <a:ext cx="91440" cy="12618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15400" y="554126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F46"/>
                </a:solidFill>
              </a:rPr>
              <a:t>Instant delete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15400" y="5888736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Remove an event from the list
with one confirmed click.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B2E"/>
                </a:solidFill>
              </a:rPr>
              <a:t>Feature 2 of 4  —  Event Detail &amp;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See everything. Change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4114800" cy="5394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Kevin Hays Trio  —  Apr 26,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105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08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208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311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Fiscal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311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41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Artists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414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Kevin Hays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6207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723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0723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$7,820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826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F&amp;B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2826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930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4930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Total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033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3A5F"/>
                </a:solidFill>
              </a:rPr>
              <a:t>$7,820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2394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EXPENSE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342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Perf. Fee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33425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$2,100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445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Tech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$240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548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Total Expense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7548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3A5F"/>
                </a:solidFill>
              </a:rPr>
              <a:t>$2,340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755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Gross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1755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5F46"/>
                </a:solidFill>
              </a:rPr>
              <a:t>+$5,480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3858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Tickets Sold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385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148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1280160"/>
            <a:ext cx="4114800" cy="5394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1280160"/>
            <a:ext cx="4114800" cy="41148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Edit Event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18288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Date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18105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18288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2026-04-26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22860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Event Name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2677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22860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 Trio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3168" y="27432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Series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27249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2743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  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3168" y="32004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Program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31821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32004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  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3168" y="36576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Artists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6393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36576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  [+ Add]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73168" y="41148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Ticket Sales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40965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41148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7820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73168" y="45720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Perf. Fee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45537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45720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2100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73168" y="50292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Tech Support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50109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50292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240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73168" y="54864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Tickets Sold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54681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7648" y="54864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148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73168" y="59436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Notes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5925312"/>
            <a:ext cx="23317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27648" y="59436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6675120" y="6473952"/>
            <a:ext cx="16459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0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Save Changes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2560" y="1280160"/>
            <a:ext cx="2788920" cy="53949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89720" y="141732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D87A"/>
                </a:solidFill>
              </a:rPr>
              <a:t>What you can do
from this screen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8972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D87A"/>
                </a:solidFill>
              </a:rPr>
              <a:t>▸ View full P&amp;L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26880" y="2468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Every revenue and expense
line for the event.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89720" y="3108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D87A"/>
                </a:solidFill>
              </a:rPr>
              <a:t>▸ Edit any field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3383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Change dates, financials,
artists, notes — anything.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89720" y="40233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D87A"/>
                </a:solidFill>
              </a:rPr>
              <a:t>▸ Duplicate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6880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Clone a recurring event
as a starting point.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9720" y="4937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D87A"/>
                </a:solidFill>
              </a:rPr>
              <a:t>▸ Delete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5212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Remove with a single
confirm click.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89720" y="58521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D87A"/>
                </a:solidFill>
              </a:rPr>
              <a:t>▸ Artist drill-down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6126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Click an artist name to
see their full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B2E"/>
                </a:solidFill>
              </a:rPr>
              <a:t>Feature 3 of 4  —  Artist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Know what every artist earns across every show.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029200" cy="5394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0292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Artist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3167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3167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Kevin Hays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10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8105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$48,320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5029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Endea Owens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286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$38,740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70048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61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Moe Flavour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761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7614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$31,200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45536"/>
            <a:ext cx="5029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369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Francine Reed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369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2369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$27,880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21024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12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Jocelyn Gould Quartet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7124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7124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$22,140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96512"/>
            <a:ext cx="5029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87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Sonrisa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187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187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$18,990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Dave Potter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663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$17,650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47488"/>
            <a:ext cx="5029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138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Marcus Printup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1389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5138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$15,400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522976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614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Various (Education)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144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5614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$14,300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1280160"/>
            <a:ext cx="6172200" cy="5394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0" y="1280160"/>
            <a:ext cx="6172200" cy="384048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1316736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Kevin Hays  —  14 shows  ·  $48,320 revenue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1719072"/>
            <a:ext cx="6172200" cy="32918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1746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1746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Show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1746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Share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1746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1746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Margin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2103120"/>
            <a:ext cx="6172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06440" y="2194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Apr 26 '26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 Trio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219456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$7,820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2194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65F46"/>
                </a:solidFill>
              </a:rPr>
              <a:t>+$5,480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0" y="2578608"/>
            <a:ext cx="6172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06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Jan 18 '26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2670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KH Solo Evening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267004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$5,200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65F46"/>
                </a:solidFill>
              </a:rPr>
              <a:t>+$3,200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0" y="3054096"/>
            <a:ext cx="6172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06440" y="31455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Sep 12 '25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3145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 Trio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31455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31455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$6,640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31455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65F46"/>
                </a:solidFill>
              </a:rPr>
              <a:t>+$4,910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0" y="3529584"/>
            <a:ext cx="6172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06440" y="36210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Jun  7 '25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0" y="3621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KH Trio + Support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36210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70%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0" y="36210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$4,830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0" y="36210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65F46"/>
                </a:solidFill>
              </a:rPr>
              <a:t>+$3,400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69280" y="4005072"/>
            <a:ext cx="6172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06440" y="40965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Mar 15 '25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0" y="4096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 Quartet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0" y="409651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1200" y="40965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$5,810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4096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65F46"/>
                </a:solidFill>
              </a:rPr>
              <a:t>+$3,980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0" y="4480560"/>
            <a:ext cx="61722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06440" y="4572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Nov  8 '24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45720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KH Solo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457200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0120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$4,200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4572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65F46"/>
                </a:solidFill>
              </a:rPr>
              <a:t>+$2,750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0" y="4956048"/>
            <a:ext cx="6172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06440" y="50474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Aug  3 '24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0" y="5047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KH Trio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86800" y="504748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5047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$5,910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15600" y="50474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65F46"/>
                </a:solidFill>
              </a:rPr>
              <a:t>+$4,100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9280" y="6446520"/>
            <a:ext cx="6172200" cy="3200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06440" y="647395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D87A"/>
                </a:solidFill>
              </a:rPr>
              <a:t>14 shows  ·  $48,320 revenue  ·  $33,820 expense  ·  +$14,500 margin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" y="6693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</a:rPr>
              <a:t>Share % lets you split revenue when an artist plays part of a multi-artist bill.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B2E"/>
                </a:solidFill>
              </a:rPr>
              <a:t>Feature 4 of 4  —  Export &amp; Add New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in. Data out. Always in sync.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5394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40233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Export to Excel — anytime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01368"/>
            <a:ext cx="5394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47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D5FF"/>
                </a:solidFill>
              </a:rPr>
              <a:t>python export_to_excel.py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955"/>
                </a:solidFill>
              </a:rPr>
              <a:t>→  events_export.xlsx  (579 events)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1E3A5F"/>
                </a:solidFill>
              </a:rPr>
              <a:t>·  One row per event — every financial field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3A5F"/>
                </a:solidFill>
              </a:rPr>
              <a:t>·  Total Revenue &amp; Total Expense are live SUM()
   formulas — edit a cell, totals update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3A5F"/>
                </a:solidFill>
              </a:rPr>
              <a:t>·  Gross Margin = Revenue − Expense (live formula)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3A5F"/>
                </a:solidFill>
              </a:rPr>
              <a:t>·  Revenue columns shaded green, expense red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3A5F"/>
                </a:solidFill>
              </a:rPr>
              <a:t>·  Artist names, ticket counts, and notes included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3A5F"/>
                </a:solidFill>
              </a:rPr>
              <a:t>·  Works as a backup — full data snapshot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577840" cy="5394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577840" cy="402336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1673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Add a new event in the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105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92224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181051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2026-05-03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860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Event 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267712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1" y="228600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Trio Night May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614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2743200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276148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 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369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Program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218688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323697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  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7124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Artist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694176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1" y="371246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  [+ Add]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18795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 Sales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169664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6634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Perf. Fee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645152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389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Tickets Sold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5120640"/>
            <a:ext cx="35661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0" y="6080760"/>
            <a:ext cx="16459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60990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Save Event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693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</a:rPr>
              <a:t>Fill in what you know now — every field except Date and Name is optional.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D87A"/>
                </a:solidFill>
              </a:rPr>
              <a:t>From zero to running in three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1188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1188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26464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44475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Load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9659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Run the one-time import script against
the existing Excel files.
All historical events from FY2022
through today are loaded automatically.
No manual entry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61188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11880" cy="5029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26464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44475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Start the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9659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Launch Nash Analysis on a laptop
or shared server.
Open a browser. Log in.
You're looking at all 579 events,
searchable and sortable.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1188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611880" cy="5029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26464"/>
            <a:ext cx="3474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144475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Use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196596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Add new events after each show.
Edit financials as actuals come in.
Search for any show in seconds.
Export to Excel whenever you need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</a:rPr>
              <a:t>No new software to license. No training on a foreign system. It works like the web — because it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12191695" cy="64008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Stop searching.
Start knowing.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D87A"/>
                </a:solidFill>
              </a:rPr>
              <a:t>Nash Analysis puts every show's financials at your fingertips —
no file-hunting, no version confusion, no manual aggregation.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23360"/>
            <a:ext cx="3474720" cy="14173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109728" cy="14173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3308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628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See the app running against real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023360"/>
            <a:ext cx="3474720" cy="14173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023360"/>
            <a:ext cx="109728" cy="14173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13308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Pilot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52628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Run alongside existing Excel files for one month.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4023360"/>
            <a:ext cx="3474720" cy="14173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4023360"/>
            <a:ext cx="109728" cy="141732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413308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Full rollout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526280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Load all historical data and go live for the team.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D87A"/>
                </a:solidFill>
              </a:rPr>
              <a:t>What's the right next step?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Nash Jazz Club  ·  Finance &amp;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