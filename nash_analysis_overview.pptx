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9202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14600"/>
            <a:ext cx="109728" cy="201168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Nash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89B2E"/>
                </a:solidFill>
              </a:rPr>
              <a:t>Event Finance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5D5EA"/>
                </a:solidFill>
              </a:rPr>
              <a:t>Track gross margin, artist costs, and revenue
across every show — from import to export.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Nash Jazz Club  ·  Finance &amp;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Problem Does It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9B2E"/>
                </a:solidFill>
              </a:rPr>
              <a:t>Consolidating years of event data scattered across Excel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41148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Separate Excel workbook per fiscal year &amp; series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Each workbook has one tab per month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Events are columns; financial rows vary by file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No cross-file search or totals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Sharing means emailing files — version chaos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Artist fee history buried across dozens of tabs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5029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94960" cy="41148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04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After — Nash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All events in one searchable database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Filter by year, series, program, or keyword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Sort by revenue, margin, tickets sold, date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Artist directory with per-artist totals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Password-protected web interface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3A5F"/>
                </a:solidFill>
              </a:rPr>
              <a:t>·  Export back to Excel any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41848" y="1463040"/>
            <a:ext cx="886968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41848" y="3474720"/>
            <a:ext cx="886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E3A5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Data Gets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9B2E"/>
                </a:solidFill>
              </a:rPr>
              <a:t>One-time import from existing Excel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2560320" cy="3840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B2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Excel Workbooks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FY_20xx_*.xlsx files
One tab per month
Events as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63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508760"/>
            <a:ext cx="2560320" cy="3840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B2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Convert to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6517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xlsx_to_csv.py
Dumps every tab to
per-sheet CSV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508760"/>
            <a:ext cx="2560320" cy="3840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B2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5F"/>
                </a:solidFill>
              </a:rPr>
              <a:t>Build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517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build_event_db.py
Pivots &amp; normalizes
into 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063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1508760"/>
            <a:ext cx="2560320" cy="3840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600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B2E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103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events.db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6517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Single file
All years, all series
579 events loaded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</a:rPr>
              <a:t>After initial load, new events are entered directly through the web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Event List — Main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9B2E"/>
                </a:solidFill>
              </a:rPr>
              <a:t>Search, filter, and sort every show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5166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Search events…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Series 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Program 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FY 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4712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7627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762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176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1762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1762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762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762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1762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96312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5877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Apr 26,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587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Kevin Hays Trio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2587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2587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$7,820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587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$2,340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877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</a:rPr>
              <a:t>$5,480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5877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148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587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063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Apr 10,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Endea Owens (Early)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$5,120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$3,800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</a:rPr>
              <a:t>$1,320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3063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47288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538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Apr 10,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35387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Endea Owens (Late)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59" y="3538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59" y="3538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$4,990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538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$3,800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538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</a:rPr>
              <a:t>$1,190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538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91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35387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922776"/>
            <a:ext cx="112471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0142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Mar 28,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40142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First Friday March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40142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First Friday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$3,240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$1,100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40142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</a:rPr>
              <a:t>$2,140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40142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112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40142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398264"/>
            <a:ext cx="112471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4489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Mar 14,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08760" y="44897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Education Show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44897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Education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59" y="4489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4489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$950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48970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1D1D"/>
                </a:solidFill>
              </a:rPr>
              <a:t>($950)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4489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87000" y="44897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Total (579 events)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$4,128,440    $2,943,210    $1,185,230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6B7280"/>
                </a:solidFill>
              </a:rPr>
              <a:t>·  Filter simultaneously by keyword, series, program, and fiscal year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6B7280"/>
                </a:solidFill>
              </a:rPr>
              <a:t>·  Click any column header to sort  ·  Totals row always reflects current filter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Event Detail &amp;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9B2E"/>
                </a:solidFill>
              </a:rPr>
              <a:t>Full financial breakdown and in-browser editing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5166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Kevin Hays Trio — Apr 26,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019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305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305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591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591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877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Artists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877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Kevin Hays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4495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735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735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$7,820.00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5021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F&amp;B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5021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$0.00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307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Donations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307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$0.00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593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Total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593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3A5F"/>
                </a:solidFill>
              </a:rPr>
              <a:t>$7,820.00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1655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EXPENSE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6451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Performance Fee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6451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$2,100.00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737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Tech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8737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3A5F"/>
                </a:solidFill>
              </a:rPr>
              <a:t>$240.00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023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Total Expense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023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3A5F"/>
                </a:solidFill>
              </a:rPr>
              <a:t>$2,340.00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559552"/>
            <a:ext cx="29260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Gross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559552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5F46"/>
                </a:solidFill>
              </a:rPr>
              <a:t>$5,480.00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1417320"/>
            <a:ext cx="5486400" cy="5166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417320"/>
            <a:ext cx="5486400" cy="384048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14447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Edit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19385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19110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19385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2026-04-26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3957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23682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7072" y="23957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 Trio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8529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Series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28254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28529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Performance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101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Artists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32826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33101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Kevin Hays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37673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 Sales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37398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37673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7820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2245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Performance Fee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41970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42245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6817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Tech Support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03920" y="46542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77072" y="46817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240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51389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Tickets Sold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51114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77072" y="51389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148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55961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Notes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3920" y="5568696"/>
            <a:ext cx="30175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77072" y="55961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5989320"/>
            <a:ext cx="13716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60076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58400" y="5989320"/>
            <a:ext cx="146304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0" y="6007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</a:rPr>
              <a:t>Duplicate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Artist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9B2E"/>
                </a:solidFill>
              </a:rPr>
              <a:t>Per-artist revenue totals across all shows and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7132320" cy="5166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71323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Artist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6304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Total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71323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Kevin Hays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65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9659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$48,320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313432"/>
            <a:ext cx="7132320" cy="3931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774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Endea Owens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3774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3774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$38,740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24912"/>
            <a:ext cx="71323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889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Moe Flavour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7889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7889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$31,200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36392"/>
            <a:ext cx="7132320" cy="3931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004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Francine Reed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2004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200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$27,880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547872"/>
            <a:ext cx="71323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61188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Jocelyn Gould Quartet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6118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6118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$22,140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59352"/>
            <a:ext cx="7132320" cy="3931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02336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Sonrisa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40233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023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$18,990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70832"/>
            <a:ext cx="71323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43484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Dave Potter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4348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4348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$17,650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82312"/>
            <a:ext cx="7132320" cy="3931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8463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5F"/>
                </a:solidFill>
              </a:rPr>
              <a:t>Various Artists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8463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48463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65F46"/>
                </a:solidFill>
              </a:rPr>
              <a:t>$14,300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1417320"/>
            <a:ext cx="4206240" cy="51663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79" y="1417320"/>
            <a:ext cx="4206240" cy="384048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1444752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Kevin Hays — Artist Detail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1874519"/>
            <a:ext cx="420624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1901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1901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19019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Margin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2267712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2340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Apr 26,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23408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Trio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23408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5F46"/>
                </a:solidFill>
              </a:rPr>
              <a:t>$5,480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79" y="2670048"/>
            <a:ext cx="4206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Jan 18,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Solo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5F46"/>
                </a:solidFill>
              </a:rPr>
              <a:t>$3,200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3072384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3145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Sep 12,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31455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Trio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5F46"/>
                </a:solidFill>
              </a:rPr>
              <a:t>$4,910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79" y="3474720"/>
            <a:ext cx="4206240" cy="3840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3547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Jun 7, 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3547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Trio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3547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5F46"/>
                </a:solidFill>
              </a:rPr>
              <a:t>$4,750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55279" y="3877056"/>
            <a:ext cx="4206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2440" y="3950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5F"/>
                </a:solidFill>
              </a:rPr>
              <a:t>Mar 15, 2025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39502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Quartet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07040" y="3950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65F46"/>
                </a:solidFill>
              </a:rPr>
              <a:t>$3,980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2440" y="432511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E3A5F"/>
                </a:solidFill>
              </a:rPr>
              <a:t>Total: 14 shows  ·  $48,320 revenue  ·  $29,840 margin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Revenue reflects each artist's share % of the event.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Excel Export — Getting Data Back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9B2E"/>
                </a:solidFill>
              </a:rPr>
              <a:t>One command produces a fully-formatted workbook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5120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120640" cy="8686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CD5FF"/>
                </a:solidFill>
              </a:rPr>
              <a:t>python export_to_excel.py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9955"/>
                </a:solidFill>
              </a:rPr>
              <a:t>→  events_export.xlsx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One row per event — all 579 events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Columns: Date, Name, Series, Program,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   FY, Artists, all revenue &amp; expense fields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Total Revenue and Total Expense are live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   Excel SUM() formulas — edit a cell and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   totals recalculate automatically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Gross Margin = Total Revenue − Total Expense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Revenue cells shaded green, expense 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Bold margin column; negative = red text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Ticket counts and Notes included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5760720" cy="5120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Column layout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993392"/>
            <a:ext cx="164592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933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Event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Date · Name · Series · Program · FY · Artists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862072"/>
            <a:ext cx="164592" cy="65836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620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Revenue (×8)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 Sales · F&amp;B · Merch · CDs · Donations
Grants · Venue Rental · Other  →  Total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730752"/>
            <a:ext cx="164592" cy="65836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307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Expense (×9)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Perf. Fee · Tech · Security · Travel · Equipment
Advertising · Misc · Merchant Fees · F&amp;B Exp  →  Total Expense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599431"/>
            <a:ext cx="164592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99431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= Total Revenue − Total Expense   (live formula)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5468112"/>
            <a:ext cx="164592" cy="65836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4681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Counts &amp;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60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Tickets Sold · Full Price · Discount · Comp ·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</a:rPr>
              <a:t>--db and --out flags let you target a different database or filename.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to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9B2E"/>
                </a:solidFill>
              </a:rPr>
              <a:t>Local and server deployment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5074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40233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904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Local (laptop)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21208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482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# activate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5FF"/>
                </a:solidFill>
              </a:rPr>
              <a:t>source .venv/bin/activate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2374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61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# start the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992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5FF"/>
                </a:solidFill>
              </a:rPr>
              <a:t>python 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369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# custom port or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124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5FF"/>
                </a:solidFill>
              </a:rPr>
              <a:t>python app.py --port 8000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502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5FF"/>
                </a:solidFill>
              </a:rPr>
              <a:t>python app.py --db backup.db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Opens at http://127.0.0.1:5050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Login with username + password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No internet connection required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Database is a single local file (events.db)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394960" cy="5074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394960" cy="402336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4904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Server (shared access)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975104"/>
            <a:ext cx="5212080" cy="1508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20482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# one-command deploy via Ansible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5FF"/>
                </a:solidFill>
              </a:rPr>
              <a:t>./deploy.sh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52374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2761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# or with Docker Compose directly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9992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D5FF"/>
                </a:solidFill>
              </a:rPr>
              <a:t>docker-compose up -d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6118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Runs in Docker — no manual install on server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Accessible from any browser on the network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Password protection built 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Ansible playbook handles first-time setup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   and re-deploys with a single command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3A5F"/>
                </a:solidFill>
              </a:rPr>
              <a:t>·  Secrets stored in encrypted Ansible Vault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64008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Nash Analysis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5176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9B2E"/>
                </a:solidFill>
              </a:rPr>
              <a:t>579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events loaded
across all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265176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35331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9B2E"/>
                </a:solidFill>
              </a:rPr>
              <a:t>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financial fields
per event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265176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5331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9B2E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file to back up
(events.db)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1280160"/>
            <a:ext cx="2651760" cy="150876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35331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89B2E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4630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5D5EA"/>
                </a:solidFill>
              </a:rPr>
              <a:t>command to export
back to Excel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566160" cy="12344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09728" cy="123444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490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Excel → CSV → SQLite
one-time bulk 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291840"/>
            <a:ext cx="3566160" cy="12344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291840"/>
            <a:ext cx="109728" cy="123444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Search &amp;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7490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By year, series, program,
or keyword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3566160" cy="12344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291840"/>
            <a:ext cx="109728" cy="123444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Edit In-Browser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7490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Add, edit, duplicate,
or delete any event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09160"/>
            <a:ext cx="3566160" cy="12344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709160"/>
            <a:ext cx="109728" cy="123444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Artist Tracking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166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Per-artist totals
across all shows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709160"/>
            <a:ext cx="3566160" cy="12344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709160"/>
            <a:ext cx="109728" cy="123444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44568" y="5166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Back to .xlsx
with live formulas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709160"/>
            <a:ext cx="3566160" cy="1234440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709160"/>
            <a:ext cx="109728" cy="1234440"/>
          </a:xfrm>
          <a:prstGeom prst="rect">
            <a:avLst/>
          </a:prstGeom>
          <a:solidFill>
            <a:srgbClr val="C89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51663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D5EA"/>
                </a:solidFill>
              </a:rPr>
              <a:t>Local or server
via Docker + Ansible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